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18872"/>
            <a:ext cx="11521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False positives are contrast-matched to cancer — a data-level imaging property across 5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23160" y="12984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6B7280"/>
                </a:solidFill>
                <a:latin typeface="Calibri"/>
              </a:rPr>
              <a:t>Benign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2984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B91C1C"/>
                </a:solidFill>
                <a:latin typeface="Calibri"/>
              </a:rPr>
              <a:t>Lesion (position)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2984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EA580C"/>
                </a:solidFill>
                <a:latin typeface="Calibri"/>
              </a:rPr>
              <a:t>False positive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88259" y="1810512"/>
            <a:ext cx="4011472" cy="0"/>
          </a:xfrm>
          <a:prstGeom prst="line">
            <a:avLst/>
          </a:prstGeom>
          <a:ln w="9525">
            <a:solidFill>
              <a:srgbClr val="CBD2D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2926080" y="1673352"/>
            <a:ext cx="274320" cy="274320"/>
          </a:xfrm>
          <a:prstGeom prst="ellipse">
            <a:avLst/>
          </a:prstGeom>
          <a:solidFill>
            <a:srgbClr val="6B728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44556" y="1673352"/>
            <a:ext cx="274320" cy="27432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75119" y="1673352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0236" y="135331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Calibri"/>
              </a:rPr>
              <a:t>0.78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664208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374151"/>
                </a:solidFill>
                <a:latin typeface="Calibri"/>
              </a:rPr>
              <a:t>bare nnU-Net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1682495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n=5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88259" y="2377440"/>
            <a:ext cx="4011472" cy="0"/>
          </a:xfrm>
          <a:prstGeom prst="line">
            <a:avLst/>
          </a:prstGeom>
          <a:ln w="9525">
            <a:solidFill>
              <a:srgbClr val="CBD2D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926080" y="2240280"/>
            <a:ext cx="274320" cy="274320"/>
          </a:xfrm>
          <a:prstGeom prst="ellipse">
            <a:avLst/>
          </a:prstGeom>
          <a:solidFill>
            <a:srgbClr val="6B728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81439" y="2240280"/>
            <a:ext cx="274320" cy="27432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19" y="2240280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07119" y="1920240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Calibri"/>
              </a:rPr>
              <a:t>0.60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2231136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374151"/>
                </a:solidFill>
                <a:latin typeface="Calibri"/>
              </a:rPr>
              <a:t>bare U-Net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59" y="224942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n=5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88259" y="2944368"/>
            <a:ext cx="4011472" cy="0"/>
          </a:xfrm>
          <a:prstGeom prst="line">
            <a:avLst/>
          </a:prstGeom>
          <a:ln w="9525">
            <a:solidFill>
              <a:srgbClr val="CBD2D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926080" y="2807208"/>
            <a:ext cx="274320" cy="274320"/>
          </a:xfrm>
          <a:prstGeom prst="ellipse">
            <a:avLst/>
          </a:prstGeom>
          <a:solidFill>
            <a:srgbClr val="6B728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74457" y="2807208"/>
            <a:ext cx="274320" cy="27432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19" y="2807208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0137" y="248716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Calibri"/>
              </a:rPr>
              <a:t>0.28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2798064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374151"/>
                </a:solidFill>
                <a:latin typeface="Calibri"/>
              </a:rPr>
              <a:t>bare Mamba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28163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n=5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988259" y="3511296"/>
            <a:ext cx="4011472" cy="0"/>
          </a:xfrm>
          <a:prstGeom prst="line">
            <a:avLst/>
          </a:prstGeom>
          <a:ln w="9525">
            <a:solidFill>
              <a:srgbClr val="CBD2D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926080" y="3374136"/>
            <a:ext cx="274320" cy="274320"/>
          </a:xfrm>
          <a:prstGeom prst="ellipse">
            <a:avLst/>
          </a:prstGeom>
          <a:solidFill>
            <a:srgbClr val="6B728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55921" y="3374136"/>
            <a:ext cx="274320" cy="27432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75119" y="3374136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81601" y="3054096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Calibri"/>
              </a:rPr>
              <a:t>0.38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3364991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374151"/>
                </a:solidFill>
                <a:latin typeface="Calibri"/>
              </a:rPr>
              <a:t>MIGF-Mamba A2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338327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n=5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988259" y="4078224"/>
            <a:ext cx="4011472" cy="0"/>
          </a:xfrm>
          <a:prstGeom prst="line">
            <a:avLst/>
          </a:prstGeom>
          <a:ln w="9525">
            <a:solidFill>
              <a:srgbClr val="CBD2D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926080" y="3941063"/>
            <a:ext cx="274320" cy="274320"/>
          </a:xfrm>
          <a:prstGeom prst="ellipse">
            <a:avLst/>
          </a:prstGeom>
          <a:solidFill>
            <a:srgbClr val="6B728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24548" y="3941063"/>
            <a:ext cx="274320" cy="274320"/>
          </a:xfrm>
          <a:prstGeom prst="ellipse">
            <a:avLst/>
          </a:prstGeom>
          <a:solidFill>
            <a:srgbClr val="B91C1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75119" y="3941063"/>
            <a:ext cx="274320" cy="274320"/>
          </a:xfrm>
          <a:prstGeom prst="ellipse">
            <a:avLst/>
          </a:prstGeom>
          <a:solidFill>
            <a:srgbClr val="EA580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0228" y="362102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B91C1C"/>
                </a:solidFill>
                <a:latin typeface="Calibri"/>
              </a:rPr>
              <a:t>0.80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3931920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1" i="0">
                <a:solidFill>
                  <a:srgbClr val="374151"/>
                </a:solidFill>
                <a:latin typeface="Calibri"/>
              </a:rPr>
              <a:t>MIGF-nnUNet A2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59" y="395020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n=15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37083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0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(benign mean)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437083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0.50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59" y="4370832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1.0</a:t>
            </a:r>
          </a:p>
          <a:p>
            <a:pPr algn="ctr"/>
            <a:r>
              <a:rPr sz="850" b="0" i="0">
                <a:solidFill>
                  <a:srgbClr val="6B7280"/>
                </a:solidFill>
                <a:latin typeface="Calibri"/>
              </a:rPr>
              <a:t>(FP mean)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484632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374151"/>
                </a:solidFill>
                <a:latin typeface="Calibri"/>
              </a:rPr>
              <a:t>Normalized evidence score (per backbone: benign mean = 0, FP mean = 1)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92440" y="1298448"/>
            <a:ext cx="3749039" cy="3520440"/>
          </a:xfrm>
          <a:prstGeom prst="roundRect">
            <a:avLst/>
          </a:prstGeom>
          <a:solidFill>
            <a:srgbClr val="F9FAFB"/>
          </a:solidFill>
          <a:ln w="20320">
            <a:solidFill>
              <a:srgbClr val="C88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92440" y="140817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 i="0">
                <a:solidFill>
                  <a:srgbClr val="C88B1E"/>
                </a:solidFill>
                <a:latin typeface="Calibri"/>
              </a:rPr>
              <a:t>35 / 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92440" y="2084831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0F4C5C"/>
                </a:solidFill>
                <a:latin typeface="Calibri"/>
              </a:rPr>
              <a:t>observations reproduce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92440" y="2322576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F4C5C"/>
                </a:solidFill>
                <a:latin typeface="Calibri"/>
              </a:rPr>
              <a:t>benign &lt; lesion &lt; FP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92440" y="2560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1">
                <a:solidFill>
                  <a:srgbClr val="6B7280"/>
                </a:solidFill>
                <a:latin typeface="Calibri"/>
              </a:rPr>
              <a:t>20 backbone-fold + 15 reference</a:t>
            </a:r>
          </a:p>
          <a:p>
            <a:pPr algn="ctr"/>
            <a:r>
              <a:rPr sz="850" b="0" i="1">
                <a:solidFill>
                  <a:srgbClr val="6B7280"/>
                </a:solidFill>
                <a:latin typeface="Calibri"/>
              </a:rPr>
              <a:t>observations = 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2440" y="2999232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0F4C5C"/>
                </a:solidFill>
                <a:latin typeface="Calibri"/>
              </a:rPr>
              <a:t>Statistical evidence (main text)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3273552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Cohen's d (lesion vs benign) = 1.10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2440" y="3493008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FP / benign evidence ratio = 2.38×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92440" y="3712464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374151"/>
                </a:solidFill>
                <a:latin typeface="Calibri"/>
              </a:rPr>
              <a:t>Both directions reproduce 35 / 35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92440" y="4023360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0F4C5C"/>
                </a:solidFill>
                <a:latin typeface="Calibri"/>
              </a:rPr>
              <a:t>Why are false positives cancer-like?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57031" y="4261104"/>
            <a:ext cx="34198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374151"/>
                </a:solidFill>
                <a:latin typeface="Calibri"/>
              </a:rPr>
              <a:t>False positives are the backbone's above-threshold errors — regions pre-selected for strong cancer-like imaging features, so their raw T2W/ADC contrast matches true cancer far more than benign tissue (a data-level imaging property).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5212080"/>
            <a:ext cx="11430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  <a:latin typeface="Calibri"/>
              </a:rPr>
              <a:t>Each row is one backbone architecture. The three circles mark the mean evidence-head score for benign tissue (gray), the true lesion (red), and the model's own false positives (orange), per-backbone normalized so benign = 0 and FP = 1. In all five architectures both the lesion and the false positives separate sharply from benign tissue — i.e., false positives are contrast-matched to confirmed cancer.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510528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  <a:latin typeface="Calibri"/>
              </a:rPr>
              <a:t>Shu Y, Chen K, Luo A — Central South University — European Radiology submission,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